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artstation.com/" TargetMode="External"/><Relationship Id="rId4" Type="http://schemas.openxmlformats.org/officeDocument/2006/relationships/hyperlink" Target="https://youtu.be/57tYajrnrwI" TargetMode="External"/><Relationship Id="rId5"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3D Generalist</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+380937375784</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Elympics,</a:t>
            </a:r>
            <a:endParaRPr sz="1200">
              <a:latin typeface="Spartan"/>
              <a:ea typeface="Spartan"/>
              <a:cs typeface="Spartan"/>
              <a:sym typeface="Spartan"/>
            </a:endParaRPr>
          </a:p>
        </p:txBody>
      </p:sp>
      <p:sp>
        <p:nvSpPr>
          <p:cNvPr id="64" name="Google Shape;64;p13"/>
          <p:cNvSpPr txBox="1"/>
          <p:nvPr/>
        </p:nvSpPr>
        <p:spPr>
          <a:xfrm>
            <a:off x="1018786" y="2971314"/>
            <a:ext cx="8767800" cy="88137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a Lead Lighting and Compositing Artist with over 8 years of experience in full CG movie production. During my time at Attraktion! I have produc</a:t>
            </a:r>
            <a:r>
              <a:rPr lang="uk">
                <a:solidFill>
                  <a:schemeClr val="dk1"/>
                </a:solidFill>
                <a:latin typeface="Calibri"/>
                <a:ea typeface="Calibri"/>
                <a:cs typeface="Calibri"/>
                <a:sym typeface="Calibri"/>
              </a:rPr>
              <a:t>ed</a:t>
            </a:r>
            <a:r>
              <a:rPr lang="uk" sz="1400">
                <a:solidFill>
                  <a:schemeClr val="dk1"/>
                </a:solidFill>
                <a:latin typeface="Calibri"/>
                <a:ea typeface="Calibri"/>
                <a:cs typeface="Calibri"/>
                <a:sym typeface="Calibri"/>
              </a:rPr>
              <a:t> movies for cinemas worldwide, enjoyed by millions of customers. I am excited about the opportunity to join </a:t>
            </a:r>
            <a:r>
              <a:rPr lang="uk">
                <a:solidFill>
                  <a:schemeClr val="dk1"/>
                </a:solidFill>
                <a:latin typeface="Calibri"/>
                <a:ea typeface="Calibri"/>
                <a:cs typeface="Calibri"/>
                <a:sym typeface="Calibri"/>
              </a:rPr>
              <a:t>Elympics</a:t>
            </a:r>
            <a:r>
              <a:rPr lang="uk" sz="1400">
                <a:solidFill>
                  <a:schemeClr val="dk1"/>
                </a:solidFill>
                <a:latin typeface="Calibri"/>
                <a:ea typeface="Calibri"/>
                <a:cs typeface="Calibri"/>
                <a:sym typeface="Calibri"/>
              </a:rPr>
              <a:t>.</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Here are a few reasons why I believe I am a great fit for this position:</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progressed from a junior lighting/compositing artist to a lead role, gaining comprehensive knowledge of all CG processes and software. Over the years, I have worked on a variety of projects that have honed my skills in modeling, texturing, lighting, and compositing. My hands-on experience with industry-standard software such as Maya, Houdini, Unreal, Nuke, and more has enabled me to tackle complex challenges efficiently.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background and a passion for diving into detailed documentation to fully understand software and processes. This dedication has positioned me as the go-to person for technical issues within my team. I have developed comprehensive templates for lighting and compositing workflows, complete with thorough documentation for team use. Whether it's troubleshooting lighting issues, resolving rendering problems, or fixing scene crashes, I am the expert who finds solutions and documents them for future reference. Additionally, I have collaborated closely with our TD to develop essential tools and automations that our artists rely on daily.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400">
                <a:solidFill>
                  <a:schemeClr val="dk1"/>
                </a:solidFill>
                <a:latin typeface="Calibri"/>
                <a:ea typeface="Calibri"/>
                <a:cs typeface="Calibri"/>
                <a:sym typeface="Calibri"/>
              </a:rPr>
              <a:t>Unreal Expertise:</a:t>
            </a:r>
            <a:r>
              <a:rPr lang="uk" sz="1400">
                <a:solidFill>
                  <a:schemeClr val="dk1"/>
                </a:solidFill>
                <a:latin typeface="Calibri"/>
                <a:ea typeface="Calibri"/>
                <a:cs typeface="Calibri"/>
                <a:sym typeface="Calibri"/>
              </a:rPr>
              <a:t> I led the transition of our animation pipeline from a traditional rendering workflow (Maya + Redshift) to using Unreal. This transition allowed us to successfully produce multiple movies in Unreal. My tasks included researching and developing workflows, building environments (Houdini + PCG), creating master materials, setting up shots, creating scene and shot lighting, and creating FX in Niagara.</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I have frequently been tasked with preparing models for to be suitable for rendering and optimized for Unreal. Leveraging Houdini, I can procedurally handle these models, create low-resolution variations, and easily make adjustments as needed. This ensures flexibility and efficiency throughout the process.</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My portfolio can be viewed here:</a:t>
            </a:r>
            <a:r>
              <a:rPr lang="uk" sz="1400" u="sng">
                <a:solidFill>
                  <a:srgbClr val="1155CC"/>
                </a:solidFill>
                <a:latin typeface="Calibri"/>
                <a:ea typeface="Calibri"/>
                <a:cs typeface="Calibri"/>
                <a:sym typeface="Calibri"/>
                <a:hlinkClick r:id="rId3">
                  <a:extLst>
                    <a:ext uri="{A12FA001-AC4F-418D-AE19-62706E023703}">
                      <ahyp:hlinkClr val="tx"/>
                    </a:ext>
                  </a:extLst>
                </a:hlinkClick>
              </a:rPr>
              <a:t> https://sydoryk.artstation.com/</a:t>
            </a:r>
            <a:r>
              <a:rPr lang="uk" sz="1400">
                <a:solidFill>
                  <a:schemeClr val="dk1"/>
                </a:solidFill>
                <a:latin typeface="Calibri"/>
                <a:ea typeface="Calibri"/>
                <a:cs typeface="Calibri"/>
                <a:sym typeface="Calibri"/>
              </a:rPr>
              <a:t>.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Showreel: </a:t>
            </a:r>
            <a:r>
              <a:rPr lang="uk" sz="1400" u="sng">
                <a:solidFill>
                  <a:srgbClr val="1155CC"/>
                </a:solidFill>
                <a:latin typeface="Calibri"/>
                <a:ea typeface="Calibri"/>
                <a:cs typeface="Calibri"/>
                <a:sym typeface="Calibri"/>
                <a:hlinkClick r:id="rId4">
                  <a:extLst>
                    <a:ext uri="{A12FA001-AC4F-418D-AE19-62706E023703}">
                      <ahyp:hlinkClr val="tx"/>
                    </a:ext>
                  </a:extLst>
                </a:hlinkClick>
              </a:rPr>
              <a:t>https://youtu.be/57tYajrnrwI</a:t>
            </a:r>
            <a:br>
              <a:rPr lang="uk" sz="1400">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O</a:t>
            </a:r>
            <a:r>
              <a:rPr lang="uk" sz="1400">
                <a:solidFill>
                  <a:schemeClr val="dk1"/>
                </a:solidFill>
                <a:latin typeface="Calibri"/>
                <a:ea typeface="Calibri"/>
                <a:cs typeface="Calibri"/>
                <a:sym typeface="Calibri"/>
              </a:rPr>
              <a:t>ne of our projects was postponed indefinitely, I</a:t>
            </a:r>
            <a:r>
              <a:rPr lang="uk">
                <a:solidFill>
                  <a:schemeClr val="dk1"/>
                </a:solidFill>
                <a:latin typeface="Calibri"/>
                <a:ea typeface="Calibri"/>
                <a:cs typeface="Calibri"/>
                <a:sym typeface="Calibri"/>
              </a:rPr>
              <a:t>’m proud of </a:t>
            </a:r>
            <a:r>
              <a:rPr lang="uk">
                <a:solidFill>
                  <a:schemeClr val="dk1"/>
                </a:solidFill>
                <a:latin typeface="Calibri"/>
                <a:ea typeface="Calibri"/>
                <a:cs typeface="Calibri"/>
                <a:sym typeface="Calibri"/>
              </a:rPr>
              <a:t>what</a:t>
            </a:r>
            <a:r>
              <a:rPr lang="uk">
                <a:solidFill>
                  <a:schemeClr val="dk1"/>
                </a:solidFill>
                <a:latin typeface="Calibri"/>
                <a:ea typeface="Calibri"/>
                <a:cs typeface="Calibri"/>
                <a:sym typeface="Calibri"/>
              </a:rPr>
              <a:t> we archived, and </a:t>
            </a:r>
            <a:r>
              <a:rPr lang="uk" sz="1400">
                <a:solidFill>
                  <a:schemeClr val="dk1"/>
                </a:solidFill>
                <a:latin typeface="Calibri"/>
                <a:ea typeface="Calibri"/>
                <a:cs typeface="Calibri"/>
                <a:sym typeface="Calibri"/>
              </a:rPr>
              <a:t>was allowed to upload it as an unlisted video separate from my showreel: </a:t>
            </a:r>
            <a:r>
              <a:rPr lang="uk" sz="1400" u="sng">
                <a:solidFill>
                  <a:srgbClr val="1155CC"/>
                </a:solidFill>
                <a:latin typeface="Calibri"/>
                <a:ea typeface="Calibri"/>
                <a:cs typeface="Calibri"/>
                <a:sym typeface="Calibri"/>
                <a:hlinkClick r:id="rId5">
                  <a:extLst>
                    <a:ext uri="{A12FA001-AC4F-418D-AE19-62706E023703}">
                      <ahyp:hlinkClr val="tx"/>
                    </a:ext>
                  </a:extLst>
                </a:hlinkClick>
              </a:rPr>
              <a:t>https://youtu.be/3gb4lI7_XRA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As you can see, my experience aligns well with the needs of </a:t>
            </a:r>
            <a:r>
              <a:rPr lang="uk">
                <a:solidFill>
                  <a:schemeClr val="dk1"/>
                </a:solidFill>
                <a:latin typeface="Calibri"/>
                <a:ea typeface="Calibri"/>
                <a:cs typeface="Calibri"/>
                <a:sym typeface="Calibri"/>
              </a:rPr>
              <a:t>Elympics</a:t>
            </a:r>
            <a:r>
              <a:rPr lang="uk" sz="1400">
                <a:solidFill>
                  <a:schemeClr val="dk1"/>
                </a:solidFill>
                <a:latin typeface="Calibri"/>
                <a:ea typeface="Calibri"/>
                <a:cs typeface="Calibri"/>
                <a:sym typeface="Calibri"/>
              </a:rPr>
              <a:t>. I am eager to bring my skills to your team and look forward to the opportunity to discuss this further. </a:t>
            </a:r>
            <a:br>
              <a:rPr lang="uk" sz="1400">
                <a:solidFill>
                  <a:schemeClr val="dk1"/>
                </a:solidFill>
                <a:latin typeface="Calibri"/>
                <a:ea typeface="Calibri"/>
                <a:cs typeface="Calibri"/>
                <a:sym typeface="Calibri"/>
              </a:rPr>
            </a:b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I am located in Krakow.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Ready for a remote workflow.</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can start in ~1 week.</a:t>
            </a:r>
            <a:endParaRPr sz="1200">
              <a:latin typeface="Spartan"/>
              <a:ea typeface="Spartan"/>
              <a:cs typeface="Spartan"/>
              <a:sym typeface="Spartan"/>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