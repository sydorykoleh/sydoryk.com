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com/detail/SunnyBunny/" TargetMode="External"/><Relationship Id="rId4" Type="http://schemas.openxmlformats.org/officeDocument/2006/relationships/hyperlink" Target="https://youtu.be/57tYajrnrwI" TargetMode="External"/><Relationship Id="rId5"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Senior Technical Artist</a:t>
            </a:r>
            <a:endParaRPr sz="1900">
              <a:latin typeface="Spartan"/>
              <a:ea typeface="Spartan"/>
              <a:cs typeface="Spartan"/>
              <a:sym typeface="Spartan"/>
            </a:endParaRPr>
          </a:p>
        </p:txBody>
      </p:sp>
      <p:grpSp>
        <p:nvGrpSpPr>
          <p:cNvPr id="56" name="Google Shape;56;p13"/>
          <p:cNvGrpSpPr/>
          <p:nvPr/>
        </p:nvGrpSpPr>
        <p:grpSpPr>
          <a:xfrm>
            <a:off x="6218312" y="1655012"/>
            <a:ext cx="3568357" cy="475579"/>
            <a:chOff x="4352731" y="1228757"/>
            <a:chExt cx="2497800" cy="353092"/>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+48 793 198 675</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oleh@sydoryk.com</a:t>
              </a:r>
              <a:endParaRPr sz="1200">
                <a:latin typeface="Spartan"/>
                <a:ea typeface="Spartan"/>
                <a:cs typeface="Spartan"/>
                <a:sym typeface="Spartan"/>
              </a:endParaRPr>
            </a:p>
          </p:txBody>
        </p:sp>
      </p:grpSp>
      <p:grpSp>
        <p:nvGrpSpPr>
          <p:cNvPr id="59" name="Google Shape;59;p13"/>
          <p:cNvGrpSpPr/>
          <p:nvPr/>
        </p:nvGrpSpPr>
        <p:grpSpPr>
          <a:xfrm>
            <a:off x="1033592" y="2539957"/>
            <a:ext cx="8738318" cy="76268"/>
            <a:chOff x="720800" y="2296300"/>
            <a:chExt cx="6116700" cy="56625"/>
          </a:xfrm>
        </p:grpSpPr>
        <p:cxnSp>
          <p:nvCxnSpPr>
            <p:cNvPr id="60" name="Google Shape;60;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1" name="Google Shape;61;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2" name="Google Shape;62;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TechLand Team,</a:t>
            </a:r>
            <a:endParaRPr sz="1200">
              <a:latin typeface="Spartan"/>
              <a:ea typeface="Spartan"/>
              <a:cs typeface="Spartan"/>
              <a:sym typeface="Spartan"/>
            </a:endParaRPr>
          </a:p>
        </p:txBody>
      </p:sp>
      <p:sp>
        <p:nvSpPr>
          <p:cNvPr id="63" name="Google Shape;63;p13"/>
          <p:cNvSpPr txBox="1"/>
          <p:nvPr/>
        </p:nvSpPr>
        <p:spPr>
          <a:xfrm>
            <a:off x="1018786" y="2971314"/>
            <a:ext cx="8767800" cy="65511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a:t>
            </a:r>
            <a:r>
              <a:rPr lang="uk">
                <a:solidFill>
                  <a:schemeClr val="dk1"/>
                </a:solidFill>
                <a:latin typeface="Calibri"/>
                <a:ea typeface="Calibri"/>
                <a:cs typeface="Calibri"/>
                <a:sym typeface="Calibri"/>
              </a:rPr>
              <a:t>. </a:t>
            </a:r>
            <a:r>
              <a:rPr lang="uk" sz="1400">
                <a:solidFill>
                  <a:schemeClr val="dk1"/>
                </a:solidFill>
                <a:latin typeface="Calibri"/>
                <a:ea typeface="Calibri"/>
                <a:cs typeface="Calibri"/>
                <a:sym typeface="Calibri"/>
              </a:rPr>
              <a:t>I am excited about the opportunity to join </a:t>
            </a:r>
            <a:r>
              <a:rPr lang="uk">
                <a:solidFill>
                  <a:schemeClr val="dk1"/>
                </a:solidFill>
                <a:latin typeface="Calibri"/>
                <a:ea typeface="Calibri"/>
                <a:cs typeface="Calibri"/>
                <a:sym typeface="Calibri"/>
              </a:rPr>
              <a:t>Virtuos</a:t>
            </a:r>
            <a:r>
              <a:rPr lang="uk" sz="1400">
                <a:solidFill>
                  <a:schemeClr val="dk1"/>
                </a:solidFill>
                <a:latin typeface="Calibri"/>
                <a:ea typeface="Calibri"/>
                <a:cs typeface="Calibri"/>
                <a:sym typeface="Calibri"/>
              </a:rPr>
              <a:t>.</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Here are a few reasons why I am a great fit for UE5 </a:t>
            </a:r>
            <a:r>
              <a:rPr lang="uk">
                <a:solidFill>
                  <a:schemeClr val="dk1"/>
                </a:solidFill>
                <a:latin typeface="Calibri"/>
                <a:ea typeface="Calibri"/>
                <a:cs typeface="Calibri"/>
                <a:sym typeface="Calibri"/>
              </a:rPr>
              <a:t>Senior Technical Artist</a:t>
            </a:r>
            <a:r>
              <a:rPr lang="uk" sz="1400">
                <a:solidFill>
                  <a:schemeClr val="dk1"/>
                </a:solidFill>
                <a:latin typeface="Calibri"/>
                <a:ea typeface="Calibri"/>
                <a:cs typeface="Calibri"/>
                <a:sym typeface="Calibri"/>
              </a:rPr>
              <a:t>:</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artist to a lead role, gaining comprehensive knowledge of all CG processes and software. Over the years, I have worked on a variety of projects that have honed my skills in modeling, texturing, lighting, and compositing. My hands-on experience with industry-standard software such as Maya, Houdini, Unreal, Substance Designer, Nuke helped me to solve complex challenges.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passion to fully understand software and processes. This dedication has positioned me as the go-to person for technical issues within my team. I have developed comprehensive templates for lighting and compositing workflows, complex material networks,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400">
                <a:solidFill>
                  <a:schemeClr val="dk1"/>
                </a:solidFill>
                <a:latin typeface="Calibri"/>
                <a:ea typeface="Calibri"/>
                <a:cs typeface="Calibri"/>
                <a:sym typeface="Calibri"/>
              </a:rPr>
              <a:t>Unreal Expertise:</a:t>
            </a:r>
            <a:r>
              <a:rPr lang="uk" sz="1400">
                <a:solidFill>
                  <a:schemeClr val="dk1"/>
                </a:solidFill>
                <a:latin typeface="Calibri"/>
                <a:ea typeface="Calibri"/>
                <a:cs typeface="Calibri"/>
                <a:sym typeface="Calibri"/>
              </a:rPr>
              <a:t> I led the transition of our animation pipeline from a traditional rendering workflow (Maya + Redshift) to using Unreal. This transition allowed us to successfully produce multiple movies in Unreal. My tasks included researching and developing workflows, assembling scene in Unreal, building environments (Houdini + PCG), creating master materials, setting up shots, creating scene and shot lighting, and creating FX in Niagara</a:t>
            </a:r>
            <a:r>
              <a:rPr lang="uk">
                <a:solidFill>
                  <a:schemeClr val="dk1"/>
                </a:solidFill>
                <a:latin typeface="Calibri"/>
                <a:ea typeface="Calibri"/>
                <a:cs typeface="Calibri"/>
                <a:sym typeface="Calibri"/>
              </a:rPr>
              <a:t>(</a:t>
            </a:r>
            <a:r>
              <a:rPr lang="uk" u="sng">
                <a:solidFill>
                  <a:schemeClr val="hlink"/>
                </a:solidFill>
                <a:latin typeface="Calibri"/>
                <a:ea typeface="Calibri"/>
                <a:cs typeface="Calibri"/>
                <a:sym typeface="Calibri"/>
                <a:hlinkClick r:id="rId3"/>
              </a:rPr>
              <a:t>link</a:t>
            </a:r>
            <a:r>
              <a:rPr lang="uk">
                <a:solidFill>
                  <a:schemeClr val="dk1"/>
                </a:solidFill>
                <a:latin typeface="Calibri"/>
                <a:ea typeface="Calibri"/>
                <a:cs typeface="Calibri"/>
                <a:sym typeface="Calibri"/>
              </a:rPr>
              <a:t>).</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br>
              <a:rPr lang="uk">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https://youtu.be/57tYajrnrwI</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5">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eager to bring my skills to your team and look forward to the opportunity to discuss this further. </a:t>
            </a:r>
            <a:endParaRPr sz="1200">
              <a:latin typeface="Spartan"/>
              <a:ea typeface="Spartan"/>
              <a:cs typeface="Spartan"/>
              <a:sym typeface="Spartan"/>
            </a:endParaRPr>
          </a:p>
        </p:txBody>
      </p:sp>
      <p:sp>
        <p:nvSpPr>
          <p:cNvPr id="64" name="Google Shape;64;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5" name="Google Shape;65;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