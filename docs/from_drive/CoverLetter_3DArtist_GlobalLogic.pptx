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10800000"/>
  <p:notesSz cx="6858000" cy="9144000"/>
  <p:embeddedFontLst>
    <p:embeddedFont>
      <p:font typeface="Rubik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747775"/>
          </p15:clr>
        </p15:guide>
        <p15:guide id="2" pos="615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615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font" Target="fonts/Rubik-boldItalic.fntdata"/><Relationship Id="rId9" Type="http://schemas.openxmlformats.org/officeDocument/2006/relationships/font" Target="fonts/Rubik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ubik-regular.fntdata"/><Relationship Id="rId8" Type="http://schemas.openxmlformats.org/officeDocument/2006/relationships/font" Target="fonts/Rubi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12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68159" y="2084549"/>
            <a:ext cx="10063800" cy="57465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68150" y="7934558"/>
            <a:ext cx="10063800" cy="22191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8150" y="6021627"/>
            <a:ext cx="10063800" cy="2356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68150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707559" y="3226527"/>
            <a:ext cx="4724400" cy="95646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68150" y="1555486"/>
            <a:ext cx="3316800" cy="21153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68150" y="3890394"/>
            <a:ext cx="3316800" cy="89010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79035" y="1260262"/>
            <a:ext cx="7521000" cy="114528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1pPr>
            <a:lvl2pPr lvl="1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2pPr>
            <a:lvl3pPr lvl="2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3pPr>
            <a:lvl4pPr lvl="3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4pPr>
            <a:lvl5pPr lvl="4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5pPr>
            <a:lvl6pPr lvl="5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6pPr>
            <a:lvl7pPr lvl="6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7pPr>
            <a:lvl8pPr lvl="7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8pPr>
            <a:lvl9pPr lvl="8">
              <a:spcBef>
                <a:spcPts val="0"/>
              </a:spcBef>
              <a:spcAft>
                <a:spcPts val="0"/>
              </a:spcAft>
              <a:buSzPts val="5700"/>
              <a:buNone/>
              <a:defRPr sz="5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400000" y="-350"/>
            <a:ext cx="54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8475" lIns="108475" spcFirstLastPara="1" rIns="108475" wrap="square" tIns="108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13583" y="3452458"/>
            <a:ext cx="4777800" cy="4149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3583" y="7847629"/>
            <a:ext cx="4777800" cy="34578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834055" y="2027157"/>
            <a:ext cx="4531800" cy="10344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68150" y="11844129"/>
            <a:ext cx="7085100" cy="16941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68150" y="3096763"/>
            <a:ext cx="10063800" cy="5496900"/>
          </a:xfrm>
          <a:prstGeom prst="rect">
            <a:avLst/>
          </a:prstGeom>
        </p:spPr>
        <p:txBody>
          <a:bodyPr anchorCtr="0" anchor="b" bIns="108475" lIns="108475" spcFirstLastPara="1" rIns="108475" wrap="square" tIns="108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68150" y="8825127"/>
            <a:ext cx="10063800" cy="3641400"/>
          </a:xfrm>
          <a:prstGeom prst="rect">
            <a:avLst/>
          </a:prstGeom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1pPr>
            <a:lvl2pPr indent="-336550" lvl="1" marL="9144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indent="-336550" lvl="2" marL="13716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indent="-336550" lvl="3" marL="18288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indent="-336550" lvl="4" marL="22860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indent="-336550" lvl="5" marL="27432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indent="-336550" lvl="6" marL="3200400" algn="ctr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indent="-336550" lvl="7" marL="3657600" algn="ctr"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indent="-336550" lvl="8" marL="4114800" algn="ctr"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68150" y="1245914"/>
            <a:ext cx="100638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68150" y="3226527"/>
            <a:ext cx="10063800" cy="95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8475" lIns="108475" spcFirstLastPara="1" rIns="108475" wrap="square" tIns="108475">
            <a:normAutofit/>
          </a:bodyPr>
          <a:lstStyle>
            <a:lvl1pPr indent="-3619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Char char="●"/>
              <a:defRPr sz="2100">
                <a:solidFill>
                  <a:schemeClr val="dk2"/>
                </a:solidFill>
              </a:defRPr>
            </a:lvl1pPr>
            <a:lvl2pPr indent="-3365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2pPr>
            <a:lvl3pPr indent="-3365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3pPr>
            <a:lvl4pPr indent="-3365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4pPr>
            <a:lvl5pPr indent="-3365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5pPr>
            <a:lvl6pPr indent="-3365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6pPr>
            <a:lvl7pPr indent="-3365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●"/>
              <a:defRPr sz="1700">
                <a:solidFill>
                  <a:schemeClr val="dk2"/>
                </a:solidFill>
              </a:defRPr>
            </a:lvl7pPr>
            <a:lvl8pPr indent="-3365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○"/>
              <a:defRPr sz="1700">
                <a:solidFill>
                  <a:schemeClr val="dk2"/>
                </a:solidFill>
              </a:defRPr>
            </a:lvl8pPr>
            <a:lvl9pPr indent="-3365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Char char="■"/>
              <a:defRPr sz="1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0006840" y="13055375"/>
            <a:ext cx="6480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475" lIns="108475" spcFirstLastPara="1" rIns="108475" wrap="square" tIns="108475">
            <a:normAutofit/>
          </a:bodyPr>
          <a:lstStyle>
            <a:lvl1pPr lvl="0" algn="r">
              <a:buNone/>
              <a:defRPr sz="1200">
                <a:solidFill>
                  <a:schemeClr val="dk2"/>
                </a:solidFill>
              </a:defRPr>
            </a:lvl1pPr>
            <a:lvl2pPr lvl="1" algn="r">
              <a:buNone/>
              <a:defRPr sz="1200">
                <a:solidFill>
                  <a:schemeClr val="dk2"/>
                </a:solidFill>
              </a:defRPr>
            </a:lvl2pPr>
            <a:lvl3pPr lvl="2" algn="r">
              <a:buNone/>
              <a:defRPr sz="1200">
                <a:solidFill>
                  <a:schemeClr val="dk2"/>
                </a:solidFill>
              </a:defRPr>
            </a:lvl3pPr>
            <a:lvl4pPr lvl="3" algn="r">
              <a:buNone/>
              <a:defRPr sz="1200">
                <a:solidFill>
                  <a:schemeClr val="dk2"/>
                </a:solidFill>
              </a:defRPr>
            </a:lvl4pPr>
            <a:lvl5pPr lvl="4" algn="r">
              <a:buNone/>
              <a:defRPr sz="1200">
                <a:solidFill>
                  <a:schemeClr val="dk2"/>
                </a:solidFill>
              </a:defRPr>
            </a:lvl5pPr>
            <a:lvl6pPr lvl="5" algn="r">
              <a:buNone/>
              <a:defRPr sz="1200">
                <a:solidFill>
                  <a:schemeClr val="dk2"/>
                </a:solidFill>
              </a:defRPr>
            </a:lvl6pPr>
            <a:lvl7pPr lvl="6" algn="r">
              <a:buNone/>
              <a:defRPr sz="1200">
                <a:solidFill>
                  <a:schemeClr val="dk2"/>
                </a:solidFill>
              </a:defRPr>
            </a:lvl7pPr>
            <a:lvl8pPr lvl="7" algn="r">
              <a:buNone/>
              <a:defRPr sz="1200">
                <a:solidFill>
                  <a:schemeClr val="dk2"/>
                </a:solidFill>
              </a:defRPr>
            </a:lvl8pPr>
            <a:lvl9pPr lvl="8" algn="r">
              <a:buNone/>
              <a:defRPr sz="12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55019" y="728072"/>
            <a:ext cx="63006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4900">
                <a:latin typeface="Rubik"/>
                <a:ea typeface="Rubik"/>
                <a:cs typeface="Rubik"/>
                <a:sym typeface="Rubik"/>
              </a:rPr>
              <a:t>SYDORYK OLEH</a:t>
            </a:r>
            <a:endParaRPr sz="4900"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004066" y="1566599"/>
            <a:ext cx="4377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900">
                <a:latin typeface="Spartan"/>
                <a:ea typeface="Spartan"/>
                <a:cs typeface="Spartan"/>
                <a:sym typeface="Spartan"/>
              </a:rPr>
              <a:t>3D Artist</a:t>
            </a:r>
            <a:endParaRPr sz="1900">
              <a:latin typeface="Spartan"/>
              <a:ea typeface="Spartan"/>
              <a:cs typeface="Spartan"/>
              <a:sym typeface="Spartan"/>
            </a:endParaRPr>
          </a:p>
        </p:txBody>
      </p:sp>
      <p:grpSp>
        <p:nvGrpSpPr>
          <p:cNvPr id="56" name="Google Shape;56;p13"/>
          <p:cNvGrpSpPr/>
          <p:nvPr/>
        </p:nvGrpSpPr>
        <p:grpSpPr>
          <a:xfrm>
            <a:off x="6218312" y="1655012"/>
            <a:ext cx="3568357" cy="761605"/>
            <a:chOff x="4352731" y="1228757"/>
            <a:chExt cx="2497800" cy="565450"/>
          </a:xfrm>
        </p:grpSpPr>
        <p:sp>
          <p:nvSpPr>
            <p:cNvPr id="57" name="Google Shape;57;p13"/>
            <p:cNvSpPr txBox="1"/>
            <p:nvPr/>
          </p:nvSpPr>
          <p:spPr>
            <a:xfrm>
              <a:off x="4352731" y="122875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+48 793 198 675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8" name="Google Shape;58;p13"/>
            <p:cNvSpPr txBox="1"/>
            <p:nvPr/>
          </p:nvSpPr>
          <p:spPr>
            <a:xfrm>
              <a:off x="4352731" y="1444748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sydorykoleh@gmail.com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  <p:sp>
          <p:nvSpPr>
            <p:cNvPr id="59" name="Google Shape;59;p13"/>
            <p:cNvSpPr txBox="1"/>
            <p:nvPr/>
          </p:nvSpPr>
          <p:spPr>
            <a:xfrm>
              <a:off x="4352731" y="1657107"/>
              <a:ext cx="2497800" cy="1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Spartan"/>
                  <a:ea typeface="Spartan"/>
                  <a:cs typeface="Spartan"/>
                  <a:sym typeface="Spartan"/>
                </a:rPr>
                <a:t>Krakow, Poland</a:t>
              </a:r>
              <a:endParaRPr sz="1200">
                <a:latin typeface="Spartan"/>
                <a:ea typeface="Spartan"/>
                <a:cs typeface="Spartan"/>
                <a:sym typeface="Spartan"/>
              </a:endParaRPr>
            </a:p>
          </p:txBody>
        </p:sp>
      </p:grpSp>
      <p:grpSp>
        <p:nvGrpSpPr>
          <p:cNvPr id="60" name="Google Shape;60;p13"/>
          <p:cNvGrpSpPr/>
          <p:nvPr/>
        </p:nvGrpSpPr>
        <p:grpSpPr>
          <a:xfrm>
            <a:off x="1033592" y="2539957"/>
            <a:ext cx="8738318" cy="76268"/>
            <a:chOff x="720800" y="2296300"/>
            <a:chExt cx="6116700" cy="56625"/>
          </a:xfrm>
        </p:grpSpPr>
        <p:cxnSp>
          <p:nvCxnSpPr>
            <p:cNvPr id="61" name="Google Shape;61;p13"/>
            <p:cNvCxnSpPr/>
            <p:nvPr/>
          </p:nvCxnSpPr>
          <p:spPr>
            <a:xfrm>
              <a:off x="720800" y="2296300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720800" y="2352925"/>
              <a:ext cx="6116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3" name="Google Shape;63;p13"/>
          <p:cNvSpPr txBox="1"/>
          <p:nvPr/>
        </p:nvSpPr>
        <p:spPr>
          <a:xfrm>
            <a:off x="1033574" y="2716667"/>
            <a:ext cx="540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Hi,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018786" y="2971314"/>
            <a:ext cx="8767800" cy="6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we are a good fit. I have extensive experience in the 3D industry (9+ years), and I’m fully comfortable working with USD.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are the reasons why I’m a strong match for the 3D Artist position: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 experience.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have over 9 years of experience in the CG industry, and I can handle every step of production - from modeling (assets, environments) to materials, lighting, rendering, and post-processing. I’ve written scripts in Python and VEX inside Houdini, and I know how to optimize assets and environments in Houdini.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USD experience.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the past 2 years, I’ve been using Houdini and Solaris as my main tools. Both rely heavily on a USD-based workflow, and all my recent projects were built using USD as the foundation. I know how to use layering and composition to construct clean, modular USD scenes.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Versatility.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the years, I’ve worked with multiple render engines (Arnold, Redshift, Karma, and others) and even built a pipeline to transition our production into a real-time workflow (Unreal Engine 5). I’m confident I can quickly excel in Omniverse with a short adjustment period.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I’m not a perfect match: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Omniverse experience. 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 I’m eager to learn new technologies. I adapt quickly, and I have no problem adjusting my workflow or switching software when needed.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located in Krakow, and currently available.</a:t>
            </a:r>
            <a:b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uk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would love to have a call, or have meeting in the office to discuss this further.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955035" y="12061935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latin typeface="Spartan"/>
                <a:ea typeface="Spartan"/>
                <a:cs typeface="Spartan"/>
                <a:sym typeface="Spartan"/>
              </a:rPr>
              <a:t>Sincerely,</a:t>
            </a:r>
            <a:endParaRPr sz="1200">
              <a:latin typeface="Spartan"/>
              <a:ea typeface="Spartan"/>
              <a:cs typeface="Spartan"/>
              <a:sym typeface="Sparta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955035" y="12334390"/>
            <a:ext cx="218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latin typeface="Spartan"/>
                <a:ea typeface="Spartan"/>
                <a:cs typeface="Spartan"/>
                <a:sym typeface="Spartan"/>
              </a:rPr>
              <a:t>Sydoryk Oleh</a:t>
            </a:r>
            <a:endParaRPr b="1" sz="1200">
              <a:latin typeface="Spartan"/>
              <a:ea typeface="Spartan"/>
              <a:cs typeface="Spartan"/>
              <a:sym typeface="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