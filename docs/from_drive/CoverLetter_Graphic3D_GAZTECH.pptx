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ydoryk.artstation.com/" TargetMode="External"/><Relationship Id="rId4" Type="http://schemas.openxmlformats.org/officeDocument/2006/relationships/hyperlink" Target="https://youtu.be/57tYajrnrwI" TargetMode="External"/><Relationship Id="rId5" Type="http://schemas.openxmlformats.org/officeDocument/2006/relationships/hyperlink" Target="https://youtu.be/3gb4lI7_XR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3D Generalist</a:t>
            </a:r>
            <a:endParaRPr sz="1900">
              <a:latin typeface="Spartan"/>
              <a:ea typeface="Spartan"/>
              <a:cs typeface="Spartan"/>
              <a:sym typeface="Spartan"/>
            </a:endParaRPr>
          </a:p>
        </p:txBody>
      </p:sp>
      <p:grpSp>
        <p:nvGrpSpPr>
          <p:cNvPr id="56" name="Google Shape;56;p13"/>
          <p:cNvGrpSpPr/>
          <p:nvPr/>
        </p:nvGrpSpPr>
        <p:grpSpPr>
          <a:xfrm>
            <a:off x="6218312" y="1655012"/>
            <a:ext cx="3568357" cy="761605"/>
            <a:chOff x="4352731" y="1228757"/>
            <a:chExt cx="2497800" cy="565450"/>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+48 793 198 675</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sydorykoleh@gmail.com</a:t>
              </a:r>
              <a:endParaRPr sz="1200">
                <a:latin typeface="Spartan"/>
                <a:ea typeface="Spartan"/>
                <a:cs typeface="Spartan"/>
                <a:sym typeface="Spartan"/>
              </a:endParaRPr>
            </a:p>
          </p:txBody>
        </p:sp>
        <p:sp>
          <p:nvSpPr>
            <p:cNvPr id="59" name="Google Shape;59;p13"/>
            <p:cNvSpPr txBox="1"/>
            <p:nvPr/>
          </p:nvSpPr>
          <p:spPr>
            <a:xfrm>
              <a:off x="4352731" y="165710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Krakow, Poland</a:t>
              </a:r>
              <a:endParaRPr sz="1200">
                <a:latin typeface="Spartan"/>
                <a:ea typeface="Spartan"/>
                <a:cs typeface="Spartan"/>
                <a:sym typeface="Spartan"/>
              </a:endParaRPr>
            </a:p>
          </p:txBody>
        </p:sp>
      </p:grpSp>
      <p:grpSp>
        <p:nvGrpSpPr>
          <p:cNvPr id="60" name="Google Shape;60;p13"/>
          <p:cNvGrpSpPr/>
          <p:nvPr/>
        </p:nvGrpSpPr>
        <p:grpSpPr>
          <a:xfrm>
            <a:off x="1033592" y="2539957"/>
            <a:ext cx="8738318" cy="76268"/>
            <a:chOff x="720800" y="2296300"/>
            <a:chExt cx="6116700" cy="56625"/>
          </a:xfrm>
        </p:grpSpPr>
        <p:cxnSp>
          <p:nvCxnSpPr>
            <p:cNvPr id="61" name="Google Shape;61;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2" name="Google Shape;62;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3" name="Google Shape;63;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Dear Millarc Team,</a:t>
            </a:r>
            <a:endParaRPr sz="1200">
              <a:latin typeface="Spartan"/>
              <a:ea typeface="Spartan"/>
              <a:cs typeface="Spartan"/>
              <a:sym typeface="Spartan"/>
            </a:endParaRPr>
          </a:p>
        </p:txBody>
      </p:sp>
      <p:sp>
        <p:nvSpPr>
          <p:cNvPr id="64" name="Google Shape;64;p13"/>
          <p:cNvSpPr txBox="1"/>
          <p:nvPr/>
        </p:nvSpPr>
        <p:spPr>
          <a:xfrm>
            <a:off x="1018786" y="2971314"/>
            <a:ext cx="8767800" cy="81348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am a Lead Lighting and Compositing Artist with over 8 years of experience in full CG movie production. During my time at Attraktion!, I have produc</a:t>
            </a:r>
            <a:r>
              <a:rPr lang="uk">
                <a:solidFill>
                  <a:schemeClr val="dk1"/>
                </a:solidFill>
                <a:latin typeface="Calibri"/>
                <a:ea typeface="Calibri"/>
                <a:cs typeface="Calibri"/>
                <a:sym typeface="Calibri"/>
              </a:rPr>
              <a:t>ed</a:t>
            </a:r>
            <a:r>
              <a:rPr lang="uk" sz="1400">
                <a:solidFill>
                  <a:schemeClr val="dk1"/>
                </a:solidFill>
                <a:latin typeface="Calibri"/>
                <a:ea typeface="Calibri"/>
                <a:cs typeface="Calibri"/>
                <a:sym typeface="Calibri"/>
              </a:rPr>
              <a:t> movies for cinemas worldwide, enjoyed by millions of customers. I am excited about the opportunity to join </a:t>
            </a:r>
            <a:r>
              <a:rPr lang="uk">
                <a:solidFill>
                  <a:schemeClr val="dk1"/>
                </a:solidFill>
                <a:latin typeface="Calibri"/>
                <a:ea typeface="Calibri"/>
                <a:cs typeface="Calibri"/>
                <a:sym typeface="Calibri"/>
              </a:rPr>
              <a:t>Millarc</a:t>
            </a:r>
            <a:r>
              <a:rPr lang="uk" sz="1400">
                <a:solidFill>
                  <a:schemeClr val="dk1"/>
                </a:solidFill>
                <a:latin typeface="Calibri"/>
                <a:ea typeface="Calibri"/>
                <a:cs typeface="Calibri"/>
                <a:sym typeface="Calibri"/>
              </a:rPr>
              <a:t>.</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Here are a few reasons why I believe I am a great fit for this position:</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Extensive Experience</a:t>
            </a:r>
            <a:r>
              <a:rPr lang="uk">
                <a:solidFill>
                  <a:schemeClr val="dk1"/>
                </a:solidFill>
                <a:latin typeface="Calibri"/>
                <a:ea typeface="Calibri"/>
                <a:cs typeface="Calibri"/>
                <a:sym typeface="Calibri"/>
              </a:rPr>
              <a:t>: I have progressed from a junior lighting/compositing artist to a lead role, gaining comprehensive knowledge of all CG processes and software. Over the years, I have worked on a variety of projects that have honed my skills in modeling, texturing, lighting, and compositing. My hands-on experience with industry-standard software such as Maya, Houdini, Unreal, Nuke, and more has enabled me to tackle complex challenges efficiently. This journey has provided me with the versatility to lead projects, mentor junior artists, and ensure the highest quality of visual output.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Technical Expertise</a:t>
            </a:r>
            <a:r>
              <a:rPr lang="uk">
                <a:solidFill>
                  <a:schemeClr val="dk1"/>
                </a:solidFill>
                <a:latin typeface="Calibri"/>
                <a:ea typeface="Calibri"/>
                <a:cs typeface="Calibri"/>
                <a:sym typeface="Calibri"/>
              </a:rPr>
              <a:t>: I have a strong technical background and a passion for diving into detailed documentation to fully understand software and processes. This dedication has positioned me as the go-to person for technical issues within my team. I have developed comprehensive templates for lighting and compositing workflows, complete with thorough documentation for team use. Whether it's troubleshooting lighting issues, resolving rendering problems, or fixing scene crashes, I am the expert who finds solutions and documents them for future reference. Additionally, I have collaborated closely with our TD to develop essential tools and automations that our artists rely on daily.</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sz="1400">
                <a:solidFill>
                  <a:schemeClr val="dk1"/>
                </a:solidFill>
                <a:latin typeface="Calibri"/>
                <a:ea typeface="Calibri"/>
                <a:cs typeface="Calibri"/>
                <a:sym typeface="Calibri"/>
              </a:rPr>
              <a:t>Unreal Expertise:</a:t>
            </a:r>
            <a:r>
              <a:rPr lang="uk" sz="1400">
                <a:solidFill>
                  <a:schemeClr val="dk1"/>
                </a:solidFill>
                <a:latin typeface="Calibri"/>
                <a:ea typeface="Calibri"/>
                <a:cs typeface="Calibri"/>
                <a:sym typeface="Calibri"/>
              </a:rPr>
              <a:t> I led the transition of our animation pipeline from a traditional rendering workflow (Maya + Redshift) to using Unreal. This transition allowed us to successfully produce multiple movies in Unreal. My tasks included researching and developing workflows, building environments (Houdini + PCG), creating master materials, setting up shots, creating scene and shot lighting, and creating FX in Niagara.</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br>
              <a:rPr lang="uk">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I have extensive experience with Nuke, so I can also work as compositor artist, depending on studio needs.</a:t>
            </a:r>
            <a:br>
              <a:rPr lang="uk">
                <a:solidFill>
                  <a:schemeClr val="dk1"/>
                </a:solidFill>
                <a:latin typeface="Calibri"/>
                <a:ea typeface="Calibri"/>
                <a:cs typeface="Calibri"/>
                <a:sym typeface="Calibri"/>
              </a:rPr>
            </a:br>
            <a:br>
              <a:rPr lang="uk">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My portfolio can be viewed here:</a:t>
            </a:r>
            <a:r>
              <a:rPr lang="uk" sz="1400" u="sng">
                <a:solidFill>
                  <a:srgbClr val="1155CC"/>
                </a:solidFill>
                <a:latin typeface="Calibri"/>
                <a:ea typeface="Calibri"/>
                <a:cs typeface="Calibri"/>
                <a:sym typeface="Calibri"/>
                <a:hlinkClick r:id="rId3">
                  <a:extLst>
                    <a:ext uri="{A12FA001-AC4F-418D-AE19-62706E023703}">
                      <ahyp:hlinkClr val="tx"/>
                    </a:ext>
                  </a:extLst>
                </a:hlinkClick>
              </a:rPr>
              <a:t> https://sydoryk.artstation.com/</a:t>
            </a:r>
            <a:r>
              <a:rPr lang="uk" sz="1400">
                <a:solidFill>
                  <a:schemeClr val="dk1"/>
                </a:solidFill>
                <a:latin typeface="Calibri"/>
                <a:ea typeface="Calibri"/>
                <a:cs typeface="Calibri"/>
                <a:sym typeface="Calibri"/>
              </a:rPr>
              <a:t>.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Showreel: </a:t>
            </a:r>
            <a:r>
              <a:rPr lang="uk" sz="1400" u="sng">
                <a:solidFill>
                  <a:srgbClr val="1155CC"/>
                </a:solidFill>
                <a:latin typeface="Calibri"/>
                <a:ea typeface="Calibri"/>
                <a:cs typeface="Calibri"/>
                <a:sym typeface="Calibri"/>
                <a:hlinkClick r:id="rId4">
                  <a:extLst>
                    <a:ext uri="{A12FA001-AC4F-418D-AE19-62706E023703}">
                      <ahyp:hlinkClr val="tx"/>
                    </a:ext>
                  </a:extLst>
                </a:hlinkClick>
              </a:rPr>
              <a:t>https://youtu.be/57tYajrnrwI</a:t>
            </a:r>
            <a:br>
              <a:rPr lang="uk" sz="1400">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O</a:t>
            </a:r>
            <a:r>
              <a:rPr lang="uk" sz="1400">
                <a:solidFill>
                  <a:schemeClr val="dk1"/>
                </a:solidFill>
                <a:latin typeface="Calibri"/>
                <a:ea typeface="Calibri"/>
                <a:cs typeface="Calibri"/>
                <a:sym typeface="Calibri"/>
              </a:rPr>
              <a:t>ne of our projects was postponed indefinitely, I</a:t>
            </a:r>
            <a:r>
              <a:rPr lang="uk">
                <a:solidFill>
                  <a:schemeClr val="dk1"/>
                </a:solidFill>
                <a:latin typeface="Calibri"/>
                <a:ea typeface="Calibri"/>
                <a:cs typeface="Calibri"/>
                <a:sym typeface="Calibri"/>
              </a:rPr>
              <a:t>’m proud of </a:t>
            </a:r>
            <a:r>
              <a:rPr lang="uk">
                <a:solidFill>
                  <a:schemeClr val="dk1"/>
                </a:solidFill>
                <a:latin typeface="Calibri"/>
                <a:ea typeface="Calibri"/>
                <a:cs typeface="Calibri"/>
                <a:sym typeface="Calibri"/>
              </a:rPr>
              <a:t>what</a:t>
            </a:r>
            <a:r>
              <a:rPr lang="uk">
                <a:solidFill>
                  <a:schemeClr val="dk1"/>
                </a:solidFill>
                <a:latin typeface="Calibri"/>
                <a:ea typeface="Calibri"/>
                <a:cs typeface="Calibri"/>
                <a:sym typeface="Calibri"/>
              </a:rPr>
              <a:t> we archived, and </a:t>
            </a:r>
            <a:r>
              <a:rPr lang="uk" sz="1400">
                <a:solidFill>
                  <a:schemeClr val="dk1"/>
                </a:solidFill>
                <a:latin typeface="Calibri"/>
                <a:ea typeface="Calibri"/>
                <a:cs typeface="Calibri"/>
                <a:sym typeface="Calibri"/>
              </a:rPr>
              <a:t>was allowed to upload it as an unlisted video separate from my showreel: </a:t>
            </a:r>
            <a:r>
              <a:rPr lang="uk" sz="1400" u="sng">
                <a:solidFill>
                  <a:srgbClr val="1155CC"/>
                </a:solidFill>
                <a:latin typeface="Calibri"/>
                <a:ea typeface="Calibri"/>
                <a:cs typeface="Calibri"/>
                <a:sym typeface="Calibri"/>
                <a:hlinkClick r:id="rId5">
                  <a:extLst>
                    <a:ext uri="{A12FA001-AC4F-418D-AE19-62706E023703}">
                      <ahyp:hlinkClr val="tx"/>
                    </a:ext>
                  </a:extLst>
                </a:hlinkClick>
              </a:rPr>
              <a:t>https://youtu.be/3gb4lI7_XRA</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As you can see, my experience aligns well with the needs of </a:t>
            </a:r>
            <a:r>
              <a:rPr lang="uk">
                <a:solidFill>
                  <a:schemeClr val="dk1"/>
                </a:solidFill>
                <a:latin typeface="Calibri"/>
                <a:ea typeface="Calibri"/>
                <a:cs typeface="Calibri"/>
                <a:sym typeface="Calibri"/>
              </a:rPr>
              <a:t>Millarc</a:t>
            </a:r>
            <a:r>
              <a:rPr lang="uk" sz="1400">
                <a:solidFill>
                  <a:schemeClr val="dk1"/>
                </a:solidFill>
                <a:latin typeface="Calibri"/>
                <a:ea typeface="Calibri"/>
                <a:cs typeface="Calibri"/>
                <a:sym typeface="Calibri"/>
              </a:rPr>
              <a:t>. I am eager to bring my skills to your team and look forward to the opportunity to discuss this further. </a:t>
            </a:r>
            <a:br>
              <a:rPr lang="uk" sz="1400">
                <a:solidFill>
                  <a:schemeClr val="dk1"/>
                </a:solidFill>
                <a:latin typeface="Calibri"/>
                <a:ea typeface="Calibri"/>
                <a:cs typeface="Calibri"/>
                <a:sym typeface="Calibri"/>
              </a:rPr>
            </a:b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I am located in Krakow.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I can start in ~1 week.</a:t>
            </a:r>
            <a:endParaRPr sz="1200">
              <a:latin typeface="Spartan"/>
              <a:ea typeface="Spartan"/>
              <a:cs typeface="Spartan"/>
              <a:sym typeface="Spartan"/>
            </a:endParaRPr>
          </a:p>
        </p:txBody>
      </p:sp>
      <p:sp>
        <p:nvSpPr>
          <p:cNvPr id="65" name="Google Shape;65;p13"/>
          <p:cNvSpPr txBox="1"/>
          <p:nvPr/>
        </p:nvSpPr>
        <p:spPr>
          <a:xfrm>
            <a:off x="955035" y="1206193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6" name="Google Shape;66;p13"/>
          <p:cNvSpPr txBox="1"/>
          <p:nvPr/>
        </p:nvSpPr>
        <p:spPr>
          <a:xfrm>
            <a:off x="955035" y="12334390"/>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