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4400000" cx="10800000"/>
  <p:notesSz cx="6858000" cy="9144000"/>
  <p:embeddedFontLst>
    <p:embeddedFont>
      <p:font typeface="Rubik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48">
          <p15:clr>
            <a:srgbClr val="747775"/>
          </p15:clr>
        </p15:guide>
        <p15:guide id="2" pos="615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48"/>
        <p:guide pos="615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ubik-boldItalic.fntdata"/><Relationship Id="rId9" Type="http://schemas.openxmlformats.org/officeDocument/2006/relationships/font" Target="fonts/Rubik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ubik-regular.fntdata"/><Relationship Id="rId8" Type="http://schemas.openxmlformats.org/officeDocument/2006/relationships/font" Target="fonts/Rubi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12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43412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8159" y="2084549"/>
            <a:ext cx="10063800" cy="57465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8150" y="7934558"/>
            <a:ext cx="10063800" cy="22191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8150" y="6021627"/>
            <a:ext cx="10063800" cy="23568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8150" y="3226527"/>
            <a:ext cx="100638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8150" y="3226527"/>
            <a:ext cx="47244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707559" y="3226527"/>
            <a:ext cx="47244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8150" y="1555486"/>
            <a:ext cx="3316800" cy="21153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8150" y="3890394"/>
            <a:ext cx="3316800" cy="89010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9035" y="1260262"/>
            <a:ext cx="7521000" cy="114528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1pPr>
            <a:lvl2pPr lvl="1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400000" y="-350"/>
            <a:ext cx="5400000" cy="14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3583" y="3452458"/>
            <a:ext cx="4777800" cy="41499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3583" y="7847629"/>
            <a:ext cx="4777800" cy="34578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834055" y="2027157"/>
            <a:ext cx="4531800" cy="10344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8150" y="11844129"/>
            <a:ext cx="7085100" cy="16941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8150" y="3096763"/>
            <a:ext cx="10063800" cy="54969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8150" y="8825127"/>
            <a:ext cx="10063800" cy="36414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 algn="ctr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8150" y="3226527"/>
            <a:ext cx="10063800" cy="9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  <a:defRPr sz="21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sydoryk.com/movies" TargetMode="External"/><Relationship Id="rId4" Type="http://schemas.openxmlformats.org/officeDocument/2006/relationships/hyperlink" Target="https://youtu.be/3gb4lI7_XR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955019" y="728072"/>
            <a:ext cx="6300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4900">
                <a:latin typeface="Rubik"/>
                <a:ea typeface="Rubik"/>
                <a:cs typeface="Rubik"/>
                <a:sym typeface="Rubik"/>
              </a:rPr>
              <a:t>SYDORYK OLEH</a:t>
            </a:r>
            <a:endParaRPr sz="49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004066" y="1566599"/>
            <a:ext cx="437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900">
                <a:latin typeface="Spartan"/>
                <a:ea typeface="Spartan"/>
                <a:cs typeface="Spartan"/>
                <a:sym typeface="Spartan"/>
              </a:rPr>
              <a:t>3D Generalist / Compositor</a:t>
            </a:r>
            <a:endParaRPr sz="1900">
              <a:latin typeface="Spartan"/>
              <a:ea typeface="Spartan"/>
              <a:cs typeface="Spartan"/>
              <a:sym typeface="Spartan"/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6218312" y="1655012"/>
            <a:ext cx="3568357" cy="761605"/>
            <a:chOff x="4352731" y="1228757"/>
            <a:chExt cx="2497800" cy="565450"/>
          </a:xfrm>
        </p:grpSpPr>
        <p:sp>
          <p:nvSpPr>
            <p:cNvPr id="57" name="Google Shape;57;p13"/>
            <p:cNvSpPr txBox="1"/>
            <p:nvPr/>
          </p:nvSpPr>
          <p:spPr>
            <a:xfrm>
              <a:off x="4352731" y="1228757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+48 793 198 675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8" name="Google Shape;58;p13"/>
            <p:cNvSpPr txBox="1"/>
            <p:nvPr/>
          </p:nvSpPr>
          <p:spPr>
            <a:xfrm>
              <a:off x="4352731" y="1444748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sydorykoleh@gmail.com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4352731" y="1657107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Krakow, Poland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  <p:grpSp>
        <p:nvGrpSpPr>
          <p:cNvPr id="60" name="Google Shape;60;p13"/>
          <p:cNvGrpSpPr/>
          <p:nvPr/>
        </p:nvGrpSpPr>
        <p:grpSpPr>
          <a:xfrm>
            <a:off x="1033592" y="2539957"/>
            <a:ext cx="8738318" cy="76268"/>
            <a:chOff x="720800" y="2296300"/>
            <a:chExt cx="6116700" cy="56625"/>
          </a:xfrm>
        </p:grpSpPr>
        <p:cxnSp>
          <p:nvCxnSpPr>
            <p:cNvPr id="61" name="Google Shape;61;p13"/>
            <p:cNvCxnSpPr/>
            <p:nvPr/>
          </p:nvCxnSpPr>
          <p:spPr>
            <a:xfrm>
              <a:off x="720800" y="2296300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720800" y="2352925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3" name="Google Shape;63;p13"/>
          <p:cNvSpPr txBox="1"/>
          <p:nvPr/>
        </p:nvSpPr>
        <p:spPr>
          <a:xfrm>
            <a:off x="1033574" y="2716667"/>
            <a:ext cx="54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latin typeface="Spartan"/>
                <a:ea typeface="Spartan"/>
                <a:cs typeface="Spartan"/>
                <a:sym typeface="Spartan"/>
              </a:rPr>
              <a:t>Dear Millarc Team,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018786" y="2971314"/>
            <a:ext cx="8767800" cy="49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am a Lead Lighting and Compositing Artist with over 8 years of experience in full CG movie production.</a:t>
            </a:r>
            <a:b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are a few reasons why I believe I am a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</a:t>
            </a:r>
            <a: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fit for this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3D Generalist / Compositor position</a:t>
            </a:r>
            <a: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Extensive Experience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With multiple years in the CG, I learned industry standard software like Maya, Houdini, Nuke and others. I have understanding of different stages of production, from layout to final delivery with focus on lighting and compositing stages. I have started as Junior and progressed to Lead. I have developed templates for lighting and compositing workflows, along with thorough documentation.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Technical Expertise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 have become go-to person for technical issues within my team. Whether it's troubleshooting lighting issues, resolving rendering problems, or fixing scene crashes, I am the one who finds solutions and documents them for future reference. Additionally, I always have collaborated closely with our TD to develop essential tools and automations that our artists rely on daily.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 portfolio can be viewed here: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uk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https://sydoryk.com/movies</a:t>
            </a:r>
            <a:b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of our projects was postponed indefinitely, I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’m proud of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 archived, and </a:t>
            </a:r>
            <a: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was allowed to upload it as an unlisted video separate from my showreel: </a:t>
            </a:r>
            <a:r>
              <a:rPr lang="uk" sz="14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https://youtu.be/3gb4lI7_XRA</a:t>
            </a:r>
            <a:b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Hopefully, you can </a:t>
            </a:r>
            <a: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</a:t>
            </a:r>
            <a: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my experience aligns well with the needs of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Millarc</a:t>
            </a:r>
            <a: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I am eager to bring my skills to your team and look forward to the opportunity to discuss this further. </a:t>
            </a:r>
            <a:b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am located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close to the studio.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955035" y="12061935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Spartan"/>
                <a:ea typeface="Spartan"/>
                <a:cs typeface="Spartan"/>
                <a:sym typeface="Spartan"/>
              </a:rPr>
              <a:t>Sincerely,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955035" y="12334390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latin typeface="Spartan"/>
                <a:ea typeface="Spartan"/>
                <a:cs typeface="Spartan"/>
                <a:sym typeface="Spartan"/>
              </a:rPr>
              <a:t>Sydoryk Oleh</a:t>
            </a:r>
            <a:endParaRPr b="1" sz="1200">
              <a:latin typeface="Spartan"/>
              <a:ea typeface="Spartan"/>
              <a:cs typeface="Spartan"/>
              <a:sym typeface="Spart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